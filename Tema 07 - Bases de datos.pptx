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QuattrocentoSans-bold.fntdata"/><Relationship Id="rId10" Type="http://schemas.openxmlformats.org/officeDocument/2006/relationships/slide" Target="slides/slide6.xml"/><Relationship Id="rId21" Type="http://schemas.openxmlformats.org/officeDocument/2006/relationships/font" Target="fonts/QuattrocentoSans-regular.fntdata"/><Relationship Id="rId13" Type="http://schemas.openxmlformats.org/officeDocument/2006/relationships/slide" Target="slides/slide9.xml"/><Relationship Id="rId24" Type="http://schemas.openxmlformats.org/officeDocument/2006/relationships/font" Target="fonts/QuattrocentoSans-boldItalic.fntdata"/><Relationship Id="rId12" Type="http://schemas.openxmlformats.org/officeDocument/2006/relationships/slide" Target="slides/slide8.xml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relacionada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2517" y="932420"/>
            <a:ext cx="5933281" cy="432969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47950" y="464904"/>
            <a:ext cx="278044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Clase Nro 6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47950" y="1337122"/>
            <a:ext cx="50160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de datos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0" y="0"/>
            <a:ext cx="215018" cy="6858000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54999" y="1798787"/>
            <a:ext cx="5546784" cy="2927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975" lvl="0" marL="1809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s-E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Conectar a una base de datos</a:t>
            </a:r>
            <a:endParaRPr/>
          </a:p>
          <a:p>
            <a:pPr indent="-180975" lvl="0" marL="180975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s-E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UNA BD.</a:t>
            </a:r>
            <a:endParaRPr/>
          </a:p>
          <a:p>
            <a:pPr indent="-180975" lvl="0" marL="180975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s-E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RELACIONES.</a:t>
            </a:r>
            <a:endParaRPr/>
          </a:p>
          <a:p>
            <a:pPr indent="-180975" lvl="0" marL="180975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s-E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CAMPOS CLAVES.</a:t>
            </a:r>
            <a:endParaRPr/>
          </a:p>
          <a:p>
            <a:pPr indent="-180975" lvl="0" marL="180975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s-E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INTEGRIDAD REFERENCIAL.</a:t>
            </a:r>
            <a:endParaRPr/>
          </a:p>
          <a:p>
            <a:pPr indent="-180975" lvl="0" marL="180975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s-E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1794294" y="135839"/>
            <a:ext cx="371172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 de datos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1905390" y="1868263"/>
            <a:ext cx="9169960" cy="365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s-ES" sz="2400">
                <a:solidFill>
                  <a:schemeClr val="dk1"/>
                </a:solidFill>
              </a:rPr>
              <a:t>Dato elemento único.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s-ES" sz="2400">
                <a:solidFill>
                  <a:schemeClr val="dk1"/>
                </a:solidFill>
              </a:rPr>
              <a:t>Información: varios datos. Ejemplo:</a:t>
            </a:r>
            <a:endParaRPr/>
          </a:p>
          <a:p>
            <a:pPr indent="-182880" lvl="1" marL="64008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b="1" lang="es-ES">
                <a:solidFill>
                  <a:schemeClr val="dk1"/>
                </a:solidFill>
              </a:rPr>
              <a:t>Dato</a:t>
            </a:r>
            <a:r>
              <a:rPr lang="es-ES">
                <a:solidFill>
                  <a:schemeClr val="dk1"/>
                </a:solidFill>
              </a:rPr>
              <a:t>: Auto.</a:t>
            </a:r>
            <a:endParaRPr/>
          </a:p>
          <a:p>
            <a:pPr indent="-182880" lvl="1" marL="64008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b="1" lang="es-ES">
                <a:solidFill>
                  <a:schemeClr val="dk1"/>
                </a:solidFill>
              </a:rPr>
              <a:t>Información</a:t>
            </a:r>
            <a:r>
              <a:rPr lang="es-ES">
                <a:solidFill>
                  <a:schemeClr val="dk1"/>
                </a:solidFill>
              </a:rPr>
              <a:t>: Pedro tiene un auto. </a:t>
            </a:r>
            <a:endParaRPr/>
          </a:p>
          <a:p>
            <a:pPr indent="-182880" lvl="0" marL="18288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s-ES" sz="2400">
                <a:solidFill>
                  <a:schemeClr val="dk1"/>
                </a:solidFill>
              </a:rPr>
              <a:t>Los datos son utilizados para comprimir la información a fin de permitir su transmisión o almacenamiento más eficiente.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794294" y="926432"/>
            <a:ext cx="967001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DIFERENCIA ENTRE DATO (Entidades)  / INFORMACIÓN (Relación)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794294" y="135839"/>
            <a:ext cx="358348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de datos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1863304" y="1120425"/>
            <a:ext cx="9583947" cy="2308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s-ES" sz="2400"/>
              <a:t>Conjunto de datos</a:t>
            </a:r>
            <a:r>
              <a:rPr lang="es-ES" sz="2400"/>
              <a:t> </a:t>
            </a:r>
            <a:r>
              <a:rPr b="1" lang="es-ES" sz="2400"/>
              <a:t>relacionados entre sí </a:t>
            </a:r>
            <a:r>
              <a:rPr lang="es-ES" sz="2400"/>
              <a:t>que tienen un significado implícito, pertenecen a un </a:t>
            </a:r>
            <a:r>
              <a:rPr b="1" lang="es-ES" sz="2400"/>
              <a:t>mismo contexto</a:t>
            </a:r>
            <a:r>
              <a:rPr lang="es-ES" sz="2400"/>
              <a:t> y son almacenados sistemáticamente para su uso posterior.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Conjunto de datos, donde datos significa hechos registrados, y representa, por lo general, algún aspecto del mundo real, y sirve para fines específicos de uno o más grupos de usuarios.</a:t>
            </a:r>
            <a:endParaRPr/>
          </a:p>
        </p:txBody>
      </p:sp>
      <p:pic>
        <p:nvPicPr>
          <p:cNvPr descr="Bases de datos y su importancia en las empresas-Gestión de base de datos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4381" y="4054414"/>
            <a:ext cx="4223237" cy="2375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794294" y="135839"/>
            <a:ext cx="371172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 de datos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1794294" y="926432"/>
            <a:ext cx="55056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de una Base de Datos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794294" y="1661155"/>
            <a:ext cx="9972136" cy="438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1828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 algún aspecto del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mundo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82880" lvl="0" marL="18288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trata de una colección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aleatoria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182880" lvl="0" marL="18288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conjunto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lógicamente coherente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 cierto significado inherente. </a:t>
            </a:r>
            <a:endParaRPr/>
          </a:p>
          <a:p>
            <a:pPr indent="-182880" lvl="0" marL="18288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comparten características comunes.</a:t>
            </a:r>
            <a:endParaRPr/>
          </a:p>
          <a:p>
            <a:pPr indent="-182880" lvl="0" marL="18288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 dirigida a un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de usuarios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82880" lvl="0" marL="18288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organizan de una manera y en una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lógica.</a:t>
            </a:r>
            <a:endParaRPr/>
          </a:p>
          <a:p>
            <a:pPr indent="-182880" lvl="0" marL="18288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depende del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datos.</a:t>
            </a:r>
            <a:endParaRPr/>
          </a:p>
          <a:p>
            <a:pPr indent="-182880" lvl="0" marL="18288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Pueden ser de cualquier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tamaño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tener diversos grados de complejidad.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/>
        </p:nvSpPr>
        <p:spPr>
          <a:xfrm>
            <a:off x="1794294" y="135839"/>
            <a:ext cx="371172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 de datos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794294" y="926432"/>
            <a:ext cx="97887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una Base de Datos (IDE para acceso a la base de datos)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1794300" y="1661153"/>
            <a:ext cx="99720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1828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pueden crear y mantener mediante un Sistema de Gestión de Bases de Datos (SGBD).</a:t>
            </a:r>
            <a:endParaRPr/>
          </a:p>
          <a:p>
            <a:pPr indent="-182880" lvl="0" marL="18288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SGBD  es un programa o conjunto de programas que sirve para mantener base de datos y responder consultas sobre ellas.</a:t>
            </a:r>
            <a:endParaRPr/>
          </a:p>
          <a:p>
            <a:pPr indent="-30479" lvl="0" marL="18288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2500650" y="3586800"/>
            <a:ext cx="7473600" cy="15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Ej.1 </a:t>
            </a:r>
            <a:b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SQL Server ( Motor de Base de Datos – Microsoft)</a:t>
            </a:r>
            <a:b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SQL Server Management Studio (SGDB)</a:t>
            </a:r>
            <a:b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Archivo con extensión .MDF (Archivo de la Base de Datos)</a:t>
            </a:r>
            <a:endParaRPr>
              <a:solidFill>
                <a:schemeClr val="dk1"/>
              </a:solidFill>
            </a:endParaRPr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2500650" y="5064600"/>
            <a:ext cx="80085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Ej.2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SQLite (Salvedad que no usa un motor propiamente dicho) </a:t>
            </a:r>
            <a:endParaRPr sz="2000">
              <a:solidFill>
                <a:schemeClr val="dk1"/>
              </a:solidFill>
            </a:endParaRPr>
          </a:p>
          <a:p>
            <a:pPr indent="45720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Studio (SGDB)</a:t>
            </a:r>
            <a:endParaRPr sz="2000">
              <a:solidFill>
                <a:schemeClr val="dk1"/>
              </a:solidFill>
            </a:endParaRPr>
          </a:p>
          <a:p>
            <a:pPr indent="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-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 con extensión .DB (Archivo de la Base de Datos)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1794294" y="135839"/>
            <a:ext cx="433381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1794294" y="926432"/>
            <a:ext cx="16546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1794294" y="1661155"/>
            <a:ext cx="9972136" cy="438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18288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establecer interconexiones (RELACIONES) entre los datos de diferentes tablas.</a:t>
            </a:r>
            <a:endParaRPr/>
          </a:p>
          <a:p>
            <a:pPr indent="-182880" lvl="0" marL="18288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compone de varias TABLAS (Entidades) y RELACIONES.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1794294" y="135839"/>
            <a:ext cx="433381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1794294" y="926432"/>
            <a:ext cx="16546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mpleados"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838" y="1695360"/>
            <a:ext cx="8388350" cy="4092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/>
        </p:nvSpPr>
        <p:spPr>
          <a:xfrm>
            <a:off x="1794294" y="135839"/>
            <a:ext cx="433381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1794294" y="926432"/>
            <a:ext cx="16546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1794293" y="1716504"/>
            <a:ext cx="9445925" cy="114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colección de CAMPOS relacionados entre sí. 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un tipo de información sobre cada registro.</a:t>
            </a:r>
            <a:endParaRPr/>
          </a:p>
        </p:txBody>
      </p:sp>
      <p:grpSp>
        <p:nvGrpSpPr>
          <p:cNvPr id="147" name="Google Shape;147;p20"/>
          <p:cNvGrpSpPr/>
          <p:nvPr/>
        </p:nvGrpSpPr>
        <p:grpSpPr>
          <a:xfrm>
            <a:off x="4274575" y="4526859"/>
            <a:ext cx="4824413" cy="374650"/>
            <a:chOff x="657" y="3612"/>
            <a:chExt cx="3039" cy="198"/>
          </a:xfrm>
        </p:grpSpPr>
        <p:sp>
          <p:nvSpPr>
            <p:cNvPr id="148" name="Google Shape;148;p20"/>
            <p:cNvSpPr txBox="1"/>
            <p:nvPr/>
          </p:nvSpPr>
          <p:spPr>
            <a:xfrm>
              <a:off x="657" y="3612"/>
              <a:ext cx="726" cy="1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8100000" dist="107763">
                <a:schemeClr val="lt2">
                  <a:alpha val="49803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Apellido</a:t>
              </a:r>
              <a:endParaRPr/>
            </a:p>
          </p:txBody>
        </p:sp>
        <p:sp>
          <p:nvSpPr>
            <p:cNvPr id="149" name="Google Shape;149;p20"/>
            <p:cNvSpPr txBox="1"/>
            <p:nvPr/>
          </p:nvSpPr>
          <p:spPr>
            <a:xfrm>
              <a:off x="1383" y="3612"/>
              <a:ext cx="907" cy="19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8100000" dist="107763">
                <a:schemeClr val="lt2">
                  <a:alpha val="49803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Nombre</a:t>
              </a:r>
              <a:endParaRPr/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2290" y="3612"/>
              <a:ext cx="1406" cy="1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8100000" dist="107763">
                <a:schemeClr val="lt2">
                  <a:alpha val="49803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CuentaCorriente</a:t>
              </a:r>
              <a:endParaRPr/>
            </a:p>
          </p:txBody>
        </p:sp>
      </p:grpSp>
      <p:sp>
        <p:nvSpPr>
          <p:cNvPr id="151" name="Google Shape;151;p20"/>
          <p:cNvSpPr/>
          <p:nvPr/>
        </p:nvSpPr>
        <p:spPr>
          <a:xfrm>
            <a:off x="8670362" y="3843068"/>
            <a:ext cx="1364505" cy="468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56250" y="22500"/>
                </a:lnTo>
                <a:lnTo>
                  <a:pt x="-81506" y="169381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Campo</a:t>
            </a:r>
            <a:endParaRPr b="1" sz="2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2393757" y="4532177"/>
            <a:ext cx="17555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Noto Sans Symbols"/>
              <a:buChar char="▪"/>
            </a:pPr>
            <a:r>
              <a:rPr b="1" i="0" lang="es-E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REGISTRO: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/>
        </p:nvSpPr>
        <p:spPr>
          <a:xfrm>
            <a:off x="1794294" y="135839"/>
            <a:ext cx="433381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1794294" y="839472"/>
            <a:ext cx="17365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225" y="1633750"/>
            <a:ext cx="8894850" cy="507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1794294" y="1424183"/>
            <a:ext cx="9183778" cy="2079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b="0" i="0" lang="es-ES" sz="2000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relación es una asociación establecida entre campos comunes (columnas) en dos tablas. Las relaciones permiten evitar datos redundantes nos permiten consultar datos de forma eficaz y crear informes.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/>
        </p:nvSpPr>
        <p:spPr>
          <a:xfrm>
            <a:off x="1794294" y="135839"/>
            <a:ext cx="433381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1794294" y="839472"/>
            <a:ext cx="17365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2"/>
          <p:cNvPicPr preferRelativeResize="0"/>
          <p:nvPr/>
        </p:nvPicPr>
        <p:blipFill rotWithShape="1">
          <a:blip r:embed="rId3">
            <a:alphaModFix/>
          </a:blip>
          <a:srcRect b="1419" l="-659" r="660" t="-1420"/>
          <a:stretch/>
        </p:blipFill>
        <p:spPr>
          <a:xfrm>
            <a:off x="1449952" y="1692650"/>
            <a:ext cx="10802575" cy="51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1794294" y="1349470"/>
            <a:ext cx="9183778" cy="2079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es-ES" sz="2000">
                <a:solidFill>
                  <a:srgbClr val="171717"/>
                </a:solidFill>
              </a:rPr>
              <a:t>Una relación entre dos tablas normalmente se constituye mediante </a:t>
            </a:r>
            <a:r>
              <a:rPr b="1" lang="es-ES" sz="2000">
                <a:solidFill>
                  <a:srgbClr val="171717"/>
                </a:solidFill>
              </a:rPr>
              <a:t>la clave principal (Primary Key) </a:t>
            </a:r>
            <a:r>
              <a:rPr lang="es-ES" sz="2000">
                <a:solidFill>
                  <a:srgbClr val="171717"/>
                </a:solidFill>
              </a:rPr>
              <a:t>de una y la </a:t>
            </a:r>
            <a:r>
              <a:rPr b="1" lang="es-ES" sz="2000">
                <a:solidFill>
                  <a:srgbClr val="171717"/>
                </a:solidFill>
              </a:rPr>
              <a:t>clave externa (Foreign Key) </a:t>
            </a:r>
            <a:r>
              <a:rPr lang="es-ES" sz="2000">
                <a:solidFill>
                  <a:srgbClr val="171717"/>
                </a:solidFill>
              </a:rPr>
              <a:t>de la otra tabla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b="1" lang="es-ES" sz="2000">
                <a:solidFill>
                  <a:srgbClr val="171717"/>
                </a:solidFill>
              </a:rPr>
              <a:t>Primary Key : </a:t>
            </a:r>
            <a:r>
              <a:rPr lang="es-ES" sz="2000">
                <a:solidFill>
                  <a:schemeClr val="dk1"/>
                </a:solidFill>
              </a:rPr>
              <a:t>Un campo o conjunto de campos que identifican a cada registro exclusivamente.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b="1" lang="es-ES" sz="2000">
                <a:solidFill>
                  <a:srgbClr val="171717"/>
                </a:solidFill>
              </a:rPr>
              <a:t>Foreign Key </a:t>
            </a:r>
            <a:r>
              <a:rPr lang="es-ES" sz="2000">
                <a:solidFill>
                  <a:schemeClr val="dk1"/>
                </a:solidFill>
              </a:rPr>
              <a:t>: define y mantiene las relaciones entre las tablas de una base de datos.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3530801" y="5552400"/>
            <a:ext cx="1302300" cy="64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26044" y="16027"/>
                </a:moveTo>
                <a:lnTo>
                  <a:pt x="156644" y="16027"/>
                </a:lnTo>
                <a:lnTo>
                  <a:pt x="194476" y="-352306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Clave principal</a:t>
            </a:r>
            <a:endParaRPr b="1"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9009250" y="5834019"/>
            <a:ext cx="1512900" cy="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044" y="16027"/>
                </a:moveTo>
                <a:lnTo>
                  <a:pt x="-17377" y="16027"/>
                </a:lnTo>
                <a:lnTo>
                  <a:pt x="-155611" y="-355678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Clave externa</a:t>
            </a:r>
            <a:endParaRPr b="1"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1794294" y="135839"/>
            <a:ext cx="325281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SQL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1889185" y="1429569"/>
            <a:ext cx="985999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Char char="•"/>
            </a:pPr>
            <a:r>
              <a:rPr b="1" lang="es-ES" sz="3200">
                <a:solidFill>
                  <a:srgbClr val="FF0000"/>
                </a:solidFill>
              </a:rPr>
              <a:t>SQL</a:t>
            </a:r>
            <a:r>
              <a:rPr lang="es-ES" sz="3200"/>
              <a:t> </a:t>
            </a:r>
            <a:r>
              <a:rPr lang="es-ES"/>
              <a:t>(</a:t>
            </a:r>
            <a:r>
              <a:rPr i="1" lang="es-ES"/>
              <a:t>Structured Query Language</a:t>
            </a:r>
            <a:r>
              <a:rPr lang="es-ES"/>
              <a:t>). Lenguaje estándar para realizar consultas y modificar datos de una base de datos.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Lo utilizaremos para especificar exactamente qué registros recuperar de una base de datos.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Si bien SQL es un estándar, existen diferentes implementaciones de SQL para diferentes motores de bases de datos.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4"/>
          <p:cNvSpPr txBox="1"/>
          <p:nvPr/>
        </p:nvSpPr>
        <p:spPr>
          <a:xfrm>
            <a:off x="1794294" y="135839"/>
            <a:ext cx="325281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SQL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1794294" y="2066320"/>
            <a:ext cx="9903125" cy="8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Devuelve campos específicos de una o más tablas de una base de datos.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s-ES" sz="2400"/>
              <a:t>Sintaxis</a:t>
            </a:r>
            <a:r>
              <a:rPr lang="es-ES" sz="2400"/>
              <a:t>: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2309538" y="3207032"/>
            <a:ext cx="7920037" cy="1008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182563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Noto Sans Symbols"/>
              <a:buChar char="▪"/>
            </a:pPr>
            <a:r>
              <a:rPr b="1" lang="es-ES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SELECT </a:t>
            </a:r>
            <a:r>
              <a:rPr b="1" lang="es-E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lista_de_campos </a:t>
            </a:r>
            <a:r>
              <a:rPr b="1" lang="es-ES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1" lang="es-E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nombretabla [</a:t>
            </a:r>
            <a:r>
              <a:rPr b="1" lang="es-ES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1" lang="es-E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cláusula]</a:t>
            </a:r>
            <a:endParaRPr b="1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2452711" y="4443309"/>
            <a:ext cx="7704856" cy="4616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Videos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2452711" y="5079191"/>
            <a:ext cx="7704900" cy="46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TITULO, ANIO, ID_PRODUCTORA </a:t>
            </a: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PELICULAS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1794294" y="1075803"/>
            <a:ext cx="60945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Instrucción SELECT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1794294" y="135839"/>
            <a:ext cx="325281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SQL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1794300" y="1599024"/>
            <a:ext cx="99030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Compara el campo con el patrón.</a:t>
            </a:r>
            <a:endParaRPr/>
          </a:p>
          <a:p>
            <a:pPr indent="-25145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Ejemplo: devolver los registros en los que el nombre de la Película contenga la palabra “%story%”</a:t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1794294" y="1075803"/>
            <a:ext cx="60945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palabra LIKE</a:t>
            </a:r>
            <a:endParaRPr/>
          </a:p>
        </p:txBody>
      </p:sp>
      <p:pic>
        <p:nvPicPr>
          <p:cNvPr id="199" name="Google Shape;1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850" y="2903900"/>
            <a:ext cx="9008751" cy="309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1794294" y="135839"/>
            <a:ext cx="325281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SQL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1794294" y="1779018"/>
            <a:ext cx="9903125" cy="8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s-ES" sz="2400"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E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compara el campo con la lista de valores.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s-ES" sz="2400">
                <a:latin typeface="Calibri"/>
                <a:ea typeface="Calibri"/>
                <a:cs typeface="Calibri"/>
                <a:sym typeface="Calibri"/>
              </a:rPr>
              <a:t>BETWEEN</a:t>
            </a: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compara el campo con el intervalo de valor</a:t>
            </a:r>
            <a:endParaRPr sz="2400"/>
          </a:p>
        </p:txBody>
      </p:sp>
      <p:sp>
        <p:nvSpPr>
          <p:cNvPr id="207" name="Google Shape;207;p26"/>
          <p:cNvSpPr txBox="1"/>
          <p:nvPr/>
        </p:nvSpPr>
        <p:spPr>
          <a:xfrm>
            <a:off x="1794294" y="1075803"/>
            <a:ext cx="60945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palabra IN y BETWEEN</a:t>
            </a:r>
            <a:endParaRPr/>
          </a:p>
        </p:txBody>
      </p:sp>
      <p:sp>
        <p:nvSpPr>
          <p:cNvPr id="208" name="Google Shape;208;p26"/>
          <p:cNvSpPr txBox="1"/>
          <p:nvPr/>
        </p:nvSpPr>
        <p:spPr>
          <a:xfrm>
            <a:off x="1946335" y="3069700"/>
            <a:ext cx="7272900" cy="120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titulo,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anio,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peliculas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TIPO </a:t>
            </a: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('drama', 'acción');</a:t>
            </a:r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1946335" y="4581868"/>
            <a:ext cx="7776900" cy="120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titulo, anio, tipo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peliculas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anio </a:t>
            </a: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BETWEEN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'. . .' AND '. . .';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1794294" y="135839"/>
            <a:ext cx="325281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SQL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1794294" y="1075803"/>
            <a:ext cx="60945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Campos Vacíos</a:t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1908154" y="2034639"/>
            <a:ext cx="9021513" cy="1553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Se usa para indicar </a:t>
            </a:r>
            <a:r>
              <a:rPr lang="es-ES" sz="2400">
                <a:solidFill>
                  <a:srgbClr val="1A1AD8"/>
                </a:solidFill>
              </a:rPr>
              <a:t>campo vacío.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Se puede determinar que un campo se encuentre vacío (valor </a:t>
            </a:r>
            <a:r>
              <a:rPr b="1" lang="es-ES" sz="2400">
                <a:solidFill>
                  <a:srgbClr val="1A1AD8"/>
                </a:solidFill>
              </a:rPr>
              <a:t>Null</a:t>
            </a:r>
            <a:r>
              <a:rPr lang="es-ES" sz="2400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La expresión </a:t>
            </a:r>
            <a:r>
              <a:rPr b="1" lang="es-ES" sz="2400">
                <a:solidFill>
                  <a:srgbClr val="1A1AD8"/>
                </a:solidFill>
              </a:rPr>
              <a:t>IS NULL </a:t>
            </a:r>
            <a:r>
              <a:rPr lang="es-ES" sz="2400"/>
              <a:t>se puede usar en </a:t>
            </a:r>
            <a:r>
              <a:rPr b="1" lang="es-ES" sz="2400">
                <a:solidFill>
                  <a:srgbClr val="F63B16"/>
                </a:solidFill>
              </a:rPr>
              <a:t>WHERE.</a:t>
            </a:r>
            <a:endParaRPr sz="2400">
              <a:solidFill>
                <a:srgbClr val="F63B1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/>
        </p:nvSpPr>
        <p:spPr>
          <a:xfrm>
            <a:off x="1794294" y="135839"/>
            <a:ext cx="371172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 de datos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8"/>
          <p:cNvSpPr/>
          <p:nvPr/>
        </p:nvSpPr>
        <p:spPr>
          <a:xfrm>
            <a:off x="0" y="0"/>
            <a:ext cx="1531116" cy="6912322"/>
          </a:xfrm>
          <a:prstGeom prst="rect">
            <a:avLst/>
          </a:prstGeom>
          <a:solidFill>
            <a:srgbClr val="9160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1794294" y="1617453"/>
            <a:ext cx="9618453" cy="2799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es-ES" sz="2000">
                <a:solidFill>
                  <a:schemeClr val="dk1"/>
                </a:solidFill>
              </a:rPr>
              <a:t>	Una cadena de conexión </a:t>
            </a:r>
            <a:r>
              <a:rPr b="1" lang="es-ES" sz="2000">
                <a:solidFill>
                  <a:schemeClr val="dk1"/>
                </a:solidFill>
              </a:rPr>
              <a:t>contiene información de inicialización</a:t>
            </a:r>
            <a:r>
              <a:rPr lang="es-ES" sz="2000">
                <a:solidFill>
                  <a:schemeClr val="dk1"/>
                </a:solidFill>
              </a:rPr>
              <a:t> que se transfiere como un parámetro desde un proveedor de datos a un origen de datos.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es-ES" sz="2000">
                <a:solidFill>
                  <a:schemeClr val="dk1"/>
                </a:solidFill>
              </a:rPr>
              <a:t>	Suele ser un conjunto de </a:t>
            </a:r>
            <a:r>
              <a:rPr b="1" lang="es-ES" sz="2000">
                <a:solidFill>
                  <a:schemeClr val="dk1"/>
                </a:solidFill>
              </a:rPr>
              <a:t>claves</a:t>
            </a:r>
            <a:r>
              <a:rPr lang="es-ES" sz="2000">
                <a:solidFill>
                  <a:schemeClr val="dk1"/>
                </a:solidFill>
              </a:rPr>
              <a:t> y </a:t>
            </a:r>
            <a:r>
              <a:rPr b="1" lang="es-ES" sz="2000">
                <a:solidFill>
                  <a:schemeClr val="dk1"/>
                </a:solidFill>
              </a:rPr>
              <a:t>valores</a:t>
            </a:r>
            <a:r>
              <a:rPr lang="es-ES" sz="2000">
                <a:solidFill>
                  <a:schemeClr val="dk1"/>
                </a:solidFill>
              </a:rPr>
              <a:t> separados por punto y coma “;”. El conjunto de claves y valores esta conectado por el signo de igual por ejemplo clave1=valor1;clave2=valor2.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es-ES" sz="2000">
                <a:solidFill>
                  <a:schemeClr val="dk1"/>
                </a:solidFill>
              </a:rPr>
              <a:t>	El conjunto de claves y valores disponibles están definidos por el proveedor de la base de datos y muchas veces hay inconsistencias entre las claves de diferentes proveedores de base de datos.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1794294" y="926432"/>
            <a:ext cx="31209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Cadena de conexión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1794294" y="4417139"/>
            <a:ext cx="47223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Cadena de conexión para sqlite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1954259" y="5040492"/>
            <a:ext cx="78971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CadenaDeConexion  =  "Data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=InstitutoDb.db;Cache=Shared“  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